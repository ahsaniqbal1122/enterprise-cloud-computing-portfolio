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83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9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34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00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8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0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2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9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3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88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0445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40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9900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55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79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7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8C8E3-065D-4B45-B9AE-4EEA9C78AA4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6768FB3-663B-43ED-9F7E-0E9438EA42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7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ing.oreilly.com/library/view/cloud-computing-concepts/9780138052287/ch02.xhtml#ch02lev1sec1" TargetMode="External"/><Relationship Id="rId2" Type="http://schemas.openxmlformats.org/officeDocument/2006/relationships/hyperlink" Target="https://moodle.leedstrinity.net/course/view.php?id=5979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CEB28-0A53-55ED-CFC4-12B2AA5FA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9382"/>
            <a:ext cx="9236364" cy="3260581"/>
          </a:xfrm>
        </p:spPr>
        <p:txBody>
          <a:bodyPr>
            <a:normAutofit fontScale="90000"/>
          </a:bodyPr>
          <a:lstStyle/>
          <a:p>
            <a:br>
              <a:rPr lang="en-US" dirty="0">
                <a:hlinkClick r:id="rId2" tooltip="COM7333-25/26-Enterprise Cloud Computing"/>
              </a:rPr>
            </a:br>
            <a:r>
              <a:rPr lang="en-US" dirty="0">
                <a:hlinkClick r:id="rId2" tooltip="COM7333-25/26-Enterprise Cloud Computing"/>
              </a:rPr>
              <a:t>COM7333-25/26-Enterprise Cloud Computing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806E4-8B43-81A2-73F9-88E1E1B5E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5017"/>
            <a:ext cx="9144000" cy="2512291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  <a:r>
              <a:rPr lang="en-US" b="1" dirty="0">
                <a:hlinkClick r:id="rId3"/>
              </a:rPr>
              <a:t>Chapter 2 – Case Study Background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Submitted by Ahsan 2512065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752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5CD40-66B4-CF26-83AA-4880ABD4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58240"/>
          </a:xfrm>
        </p:spPr>
        <p:txBody>
          <a:bodyPr>
            <a:normAutofit fontScale="90000"/>
          </a:bodyPr>
          <a:lstStyle/>
          <a:p>
            <a:r>
              <a:rPr lang="en-US" dirty="0"/>
              <a:t>ATN: Cloud Migration</a:t>
            </a:r>
            <a:br>
              <a:rPr lang="en-US" dirty="0"/>
            </a:br>
            <a:r>
              <a:rPr lang="en-US" dirty="0"/>
              <a:t>Global telecom equipment supplier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90A5A-1422-EEA5-E28C-8877C4568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67840"/>
            <a:ext cx="8823717" cy="5582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Motivations:                                                                                               </a:t>
            </a:r>
          </a:p>
          <a:p>
            <a:r>
              <a:rPr lang="en-US" sz="1400" dirty="0"/>
              <a:t>Reduce IT cost</a:t>
            </a:r>
          </a:p>
          <a:p>
            <a:r>
              <a:rPr lang="en-US" sz="1400" dirty="0"/>
              <a:t>Simplify complex Systems</a:t>
            </a:r>
          </a:p>
          <a:p>
            <a:r>
              <a:rPr lang="en-US" sz="1400" dirty="0"/>
              <a:t>Improve scalability &amp; agility</a:t>
            </a:r>
          </a:p>
          <a:p>
            <a:pPr marL="0" indent="0">
              <a:buNone/>
            </a:pPr>
            <a:r>
              <a:rPr lang="en-US" sz="1400" b="1" dirty="0"/>
              <a:t>Challenges:</a:t>
            </a:r>
          </a:p>
          <a:p>
            <a:r>
              <a:rPr lang="en-US" sz="1400" dirty="0"/>
              <a:t>Too many legacy apps</a:t>
            </a:r>
          </a:p>
          <a:p>
            <a:r>
              <a:rPr lang="en-US" sz="1400" dirty="0"/>
              <a:t>Vendor confusion</a:t>
            </a:r>
          </a:p>
          <a:p>
            <a:r>
              <a:rPr lang="en-US" sz="1400" dirty="0"/>
              <a:t>Security &amp; compliance risks</a:t>
            </a:r>
          </a:p>
          <a:p>
            <a:pPr marL="0" indent="0">
              <a:buNone/>
            </a:pPr>
            <a:r>
              <a:rPr lang="en-US" sz="1400" b="1" dirty="0"/>
              <a:t>Results:</a:t>
            </a:r>
          </a:p>
          <a:p>
            <a:r>
              <a:rPr lang="en-US" sz="1400" dirty="0"/>
              <a:t>Cost savings via pay-as-you-go</a:t>
            </a:r>
          </a:p>
          <a:p>
            <a:r>
              <a:rPr lang="en-US" sz="1400" dirty="0"/>
              <a:t>Faster deployments &amp; better performance</a:t>
            </a:r>
          </a:p>
          <a:p>
            <a:r>
              <a:rPr lang="en-US" sz="1400" dirty="0"/>
              <a:t>Successful pilot led to wider adoption</a:t>
            </a:r>
          </a:p>
          <a:p>
            <a:pPr marL="0" indent="0">
              <a:buNone/>
            </a:pPr>
            <a:r>
              <a:rPr lang="en-US" sz="1400" b="1" dirty="0"/>
              <a:t>Key Lesson:</a:t>
            </a:r>
          </a:p>
          <a:p>
            <a:pPr marL="0" indent="0">
              <a:buNone/>
            </a:pPr>
            <a:r>
              <a:rPr lang="en-US" sz="1400" dirty="0"/>
              <a:t>Start small, plan carefully, involve experts, and expand gradually.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617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24A6-4ADE-BB4F-E140-E39E8CAB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5691"/>
          </a:xfrm>
        </p:spPr>
        <p:txBody>
          <a:bodyPr>
            <a:normAutofit/>
          </a:bodyPr>
          <a:lstStyle/>
          <a:p>
            <a:r>
              <a:rPr lang="en-US" sz="2400" dirty="0"/>
              <a:t>DTGOV: Cloud Infrastructure &amp; Operations</a:t>
            </a:r>
            <a:br>
              <a:rPr lang="en-US" sz="2400" dirty="0"/>
            </a:br>
            <a:r>
              <a:rPr lang="en-US" sz="2400" dirty="0"/>
              <a:t>     Government IT provider (Ministry of Social Security)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D1707-EF9B-6426-D820-CF59C849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5291"/>
            <a:ext cx="8596668" cy="5190309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Transition from Traditional Outsourcing to Cloud Services</a:t>
            </a:r>
          </a:p>
          <a:p>
            <a:r>
              <a:rPr lang="en-US" sz="1400" dirty="0"/>
              <a:t>Shifted from traditional outsourcing → internal government</a:t>
            </a:r>
          </a:p>
          <a:p>
            <a:r>
              <a:rPr lang="en-US" sz="1400" dirty="0"/>
              <a:t>Cloud Adopted Infrastructure as a Service (IaaS)</a:t>
            </a:r>
          </a:p>
          <a:p>
            <a:r>
              <a:rPr lang="en-US" sz="1400" dirty="0"/>
              <a:t>Model Focused on standardized, shared IT infrastructure</a:t>
            </a:r>
          </a:p>
          <a:p>
            <a:r>
              <a:rPr lang="en-US" sz="1400" dirty="0"/>
              <a:t>Enabled self-service portal for quick provisioning</a:t>
            </a:r>
          </a:p>
          <a:p>
            <a:pPr marL="0" indent="0">
              <a:buNone/>
            </a:pPr>
            <a:r>
              <a:rPr lang="en-US" sz="1400" b="1" dirty="0"/>
              <a:t>Architectural &amp; Operational Changes</a:t>
            </a:r>
          </a:p>
          <a:p>
            <a:r>
              <a:rPr lang="en-US" sz="1400" dirty="0"/>
              <a:t>Virtualization Merged physical servers for efficiency</a:t>
            </a:r>
          </a:p>
          <a:p>
            <a:r>
              <a:rPr lang="en-US" sz="1400" dirty="0"/>
              <a:t>Standardization – unified hardware/software systems</a:t>
            </a:r>
          </a:p>
          <a:p>
            <a:r>
              <a:rPr lang="en-US" sz="1400" dirty="0"/>
              <a:t>SLA Management – clear uptime &amp; performance targets</a:t>
            </a:r>
          </a:p>
          <a:p>
            <a:r>
              <a:rPr lang="en-US" sz="1400" dirty="0"/>
              <a:t>Automation – web-based management and cost tracking</a:t>
            </a:r>
          </a:p>
          <a:p>
            <a:pPr marL="0" indent="0">
              <a:buNone/>
            </a:pPr>
            <a:r>
              <a:rPr lang="en-US" sz="1400" b="1" dirty="0"/>
              <a:t>Improvements </a:t>
            </a:r>
          </a:p>
          <a:p>
            <a:r>
              <a:rPr lang="en-US" sz="1400" b="1" dirty="0"/>
              <a:t>Faster service delivery </a:t>
            </a:r>
          </a:p>
          <a:p>
            <a:r>
              <a:rPr lang="en-US" sz="1400" b="1" dirty="0"/>
              <a:t>Lower operational cost </a:t>
            </a:r>
          </a:p>
          <a:p>
            <a:r>
              <a:rPr lang="en-US" sz="1400" b="1" dirty="0"/>
              <a:t>Enhanced transparency &amp; governance </a:t>
            </a:r>
          </a:p>
          <a:p>
            <a:r>
              <a:rPr lang="en-US" sz="1400" b="1" dirty="0"/>
              <a:t>Improved scalability &amp; flexibility</a:t>
            </a:r>
          </a:p>
        </p:txBody>
      </p:sp>
    </p:spTree>
    <p:extLst>
      <p:ext uri="{BB962C8B-B14F-4D97-AF65-F5344CB8AC3E}">
        <p14:creationId xmlns:p14="http://schemas.microsoft.com/office/powerpoint/2010/main" val="358526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8D53-095C-6F63-55A4-DD1FE0B2B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DTGOV: Cloud Infrastructure &amp; Operations</a:t>
            </a:r>
            <a:br>
              <a:rPr lang="en-US" sz="2400" dirty="0"/>
            </a:br>
            <a:r>
              <a:rPr lang="en-US" sz="2400" dirty="0"/>
              <a:t>     Government IT provider (Ministry of Social Security)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08B2-C6B4-CE16-C12C-DE55DF947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Challenges</a:t>
            </a:r>
          </a:p>
          <a:p>
            <a:r>
              <a:rPr lang="en-US" dirty="0"/>
              <a:t>Outdated government regulations </a:t>
            </a:r>
          </a:p>
          <a:p>
            <a:r>
              <a:rPr lang="en-US" dirty="0"/>
              <a:t>Resistance to change in public sector </a:t>
            </a:r>
          </a:p>
          <a:p>
            <a:r>
              <a:rPr lang="en-US" dirty="0"/>
              <a:t>Need for new cloud skills </a:t>
            </a:r>
          </a:p>
          <a:p>
            <a:pPr marL="0" indent="0">
              <a:buNone/>
            </a:pPr>
            <a:r>
              <a:rPr lang="en-US" dirty="0"/>
              <a:t>Modern DevOps Enhancements Automation </a:t>
            </a:r>
          </a:p>
          <a:p>
            <a:r>
              <a:rPr lang="en-US" dirty="0"/>
              <a:t>speed up repetitive </a:t>
            </a:r>
            <a:r>
              <a:rPr lang="en-US" dirty="0" err="1"/>
              <a:t>tasksCI</a:t>
            </a:r>
            <a:r>
              <a:rPr lang="en-US" dirty="0"/>
              <a:t>/CD </a:t>
            </a:r>
          </a:p>
          <a:p>
            <a:r>
              <a:rPr lang="en-US" dirty="0"/>
              <a:t>continuous integration &amp; delivery</a:t>
            </a:r>
          </a:p>
          <a:p>
            <a:r>
              <a:rPr lang="en-US" dirty="0"/>
              <a:t>Infrastructure as Code (</a:t>
            </a:r>
            <a:r>
              <a:rPr lang="en-US" dirty="0" err="1"/>
              <a:t>IaC</a:t>
            </a:r>
            <a:r>
              <a:rPr lang="en-US" dirty="0"/>
              <a:t>) consistent setup</a:t>
            </a:r>
          </a:p>
          <a:p>
            <a:r>
              <a:rPr lang="en-US" dirty="0"/>
              <a:t>Monitoring &amp; Feedback Loops – performance insights</a:t>
            </a:r>
          </a:p>
        </p:txBody>
      </p:sp>
    </p:spTree>
    <p:extLst>
      <p:ext uri="{BB962C8B-B14F-4D97-AF65-F5344CB8AC3E}">
        <p14:creationId xmlns:p14="http://schemas.microsoft.com/office/powerpoint/2010/main" val="290692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5085-66E5-D3AD-0433-D9EED24E9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Innovartus</a:t>
            </a:r>
            <a:r>
              <a:rPr lang="en-US" dirty="0"/>
              <a:t> – Multi-Cloud and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65467-78B6-1BED-9676-C68651BF5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5327"/>
            <a:ext cx="8596668" cy="54080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Motivation for Moving to Global Cloud                         </a:t>
            </a:r>
          </a:p>
          <a:p>
            <a:r>
              <a:rPr lang="en-US" sz="1200" dirty="0"/>
              <a:t>Needed global presence for international users </a:t>
            </a:r>
          </a:p>
          <a:p>
            <a:r>
              <a:rPr lang="en-US" sz="1200" dirty="0"/>
              <a:t>Regional provider caused latency &amp; reliability issues</a:t>
            </a:r>
          </a:p>
          <a:p>
            <a:r>
              <a:rPr lang="en-US" sz="1200" dirty="0"/>
              <a:t>Required better scalability during peak traffic</a:t>
            </a:r>
          </a:p>
          <a:p>
            <a:r>
              <a:rPr lang="en-US" sz="1200" dirty="0"/>
              <a:t>Aimed to reduce high hosting costs</a:t>
            </a:r>
          </a:p>
          <a:p>
            <a:r>
              <a:rPr lang="en-US" sz="1200" dirty="0"/>
              <a:t>Wanted access to advanced cloud features (AI, analytics, etc.)</a:t>
            </a:r>
          </a:p>
          <a:p>
            <a:pPr marL="0" indent="0">
              <a:buNone/>
            </a:pPr>
            <a:r>
              <a:rPr lang="en-US" sz="1600" b="1" dirty="0"/>
              <a:t>Challenges Faced</a:t>
            </a:r>
          </a:p>
          <a:p>
            <a:r>
              <a:rPr lang="en-US" sz="1200" dirty="0"/>
              <a:t>Portability issues – apps built with provider-specific tools </a:t>
            </a:r>
          </a:p>
          <a:p>
            <a:r>
              <a:rPr lang="en-US" sz="1200" dirty="0"/>
              <a:t>Interoperability issues – difficult to connect multiple clouds </a:t>
            </a:r>
          </a:p>
          <a:p>
            <a:r>
              <a:rPr lang="en-US" sz="1200" dirty="0"/>
              <a:t>Vendor lock-in – over-reliance on one provider </a:t>
            </a:r>
          </a:p>
          <a:p>
            <a:r>
              <a:rPr lang="en-US" sz="1200" dirty="0"/>
              <a:t>Migration complexity – data movement and coordination</a:t>
            </a:r>
          </a:p>
          <a:p>
            <a:pPr marL="0" indent="0">
              <a:buNone/>
            </a:pPr>
            <a:r>
              <a:rPr lang="en-US" sz="1700" b="1" dirty="0"/>
              <a:t>Advantages of Multi-Cloud</a:t>
            </a:r>
          </a:p>
          <a:p>
            <a:r>
              <a:rPr lang="en-US" sz="1200" dirty="0"/>
              <a:t>Global performance faster access for users worldwide</a:t>
            </a:r>
          </a:p>
          <a:p>
            <a:r>
              <a:rPr lang="en-US" sz="1200" dirty="0"/>
              <a:t>High availability – no single point of failure</a:t>
            </a:r>
          </a:p>
          <a:p>
            <a:r>
              <a:rPr lang="en-US" sz="1200" dirty="0"/>
              <a:t>Cost optimization – compare and choose best pricing </a:t>
            </a:r>
          </a:p>
          <a:p>
            <a:r>
              <a:rPr lang="en-US" sz="1200" dirty="0"/>
              <a:t>Flexibility &amp; innovation – use strengths of each provider</a:t>
            </a:r>
          </a:p>
          <a:p>
            <a:r>
              <a:rPr lang="en-US" sz="1200" dirty="0"/>
              <a:t>Disaster recovery – backups spread across clouds</a:t>
            </a:r>
          </a:p>
        </p:txBody>
      </p:sp>
    </p:spTree>
    <p:extLst>
      <p:ext uri="{BB962C8B-B14F-4D97-AF65-F5344CB8AC3E}">
        <p14:creationId xmlns:p14="http://schemas.microsoft.com/office/powerpoint/2010/main" val="278077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DC9A9-BAB6-1A55-D756-6540E90A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Innovartus</a:t>
            </a:r>
            <a:r>
              <a:rPr lang="en-US" dirty="0"/>
              <a:t> – Multi-Cloud and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E7FBA-0AF8-52BE-AD5C-7474BE8EC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Containerisation</a:t>
            </a:r>
            <a:r>
              <a:rPr lang="en-US" b="1" dirty="0"/>
              <a:t> &amp; Microservices</a:t>
            </a:r>
          </a:p>
          <a:p>
            <a:r>
              <a:rPr lang="en-US" dirty="0"/>
              <a:t>Containers (Docker): Run apps anywhere without code change </a:t>
            </a:r>
          </a:p>
          <a:p>
            <a:r>
              <a:rPr lang="en-US" dirty="0"/>
              <a:t>Microservices (Kubernetes): Split large app into smaller scalable parts</a:t>
            </a:r>
          </a:p>
          <a:p>
            <a:r>
              <a:rPr lang="en-US" dirty="0"/>
              <a:t>Improves portability, scalability, and maintenance</a:t>
            </a:r>
          </a:p>
          <a:p>
            <a:r>
              <a:rPr lang="en-US" dirty="0"/>
              <a:t>Enables faster updates and fault isolation</a:t>
            </a:r>
          </a:p>
        </p:txBody>
      </p:sp>
    </p:spTree>
    <p:extLst>
      <p:ext uri="{BB962C8B-B14F-4D97-AF65-F5344CB8AC3E}">
        <p14:creationId xmlns:p14="http://schemas.microsoft.com/office/powerpoint/2010/main" val="145784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3860-CE98-A9E2-78E5-EB347073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9897"/>
          </a:xfrm>
        </p:spPr>
        <p:txBody>
          <a:bodyPr/>
          <a:lstStyle/>
          <a:p>
            <a:r>
              <a:rPr lang="en-US" dirty="0"/>
              <a:t>Task 4: Comparative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D96DD-417B-36F8-145F-D380B51B7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8537"/>
            <a:ext cx="8596668" cy="46828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Comparison of the Three Companies</a:t>
            </a:r>
          </a:p>
          <a:p>
            <a:r>
              <a:rPr lang="en-US" sz="1200" b="1" dirty="0"/>
              <a:t>ATN</a:t>
            </a:r>
            <a:r>
              <a:rPr lang="en-US" sz="1200" dirty="0"/>
              <a:t>: Focused on cloud migration to reduce cost and improve agility.</a:t>
            </a:r>
          </a:p>
          <a:p>
            <a:r>
              <a:rPr lang="en-US" sz="1200" b="1" dirty="0"/>
              <a:t>DTGOV</a:t>
            </a:r>
            <a:r>
              <a:rPr lang="en-US" sz="1200" dirty="0"/>
              <a:t>: Transformed into an internal government cloud for efficiency and control.</a:t>
            </a:r>
          </a:p>
          <a:p>
            <a:r>
              <a:rPr lang="en-US" sz="1200" b="1" dirty="0" err="1"/>
              <a:t>Innovartus</a:t>
            </a:r>
            <a:r>
              <a:rPr lang="en-US" sz="1200" dirty="0"/>
              <a:t>: Adopted multi-cloud to achieve global scalability and flexibility.</a:t>
            </a:r>
          </a:p>
          <a:p>
            <a:pPr marL="0" indent="0">
              <a:buNone/>
            </a:pPr>
            <a:r>
              <a:rPr lang="en-US" sz="1200" b="1" dirty="0"/>
              <a:t>Common Patterns</a:t>
            </a:r>
          </a:p>
          <a:p>
            <a:r>
              <a:rPr lang="en-US" sz="1200" dirty="0"/>
              <a:t>All aimed to reduce cost, improve efficiency, and increase scalability.</a:t>
            </a:r>
          </a:p>
          <a:p>
            <a:r>
              <a:rPr lang="en-US" sz="1200" dirty="0"/>
              <a:t>Used phased, pilot-based adoption before full implementation.</a:t>
            </a:r>
          </a:p>
          <a:p>
            <a:r>
              <a:rPr lang="en-US" sz="1200" dirty="0"/>
              <a:t>Faced regulatory, skill, and integration challenges.</a:t>
            </a:r>
          </a:p>
          <a:p>
            <a:r>
              <a:rPr lang="en-US" sz="1200" dirty="0"/>
              <a:t>Relied on expert guidance and long-term cloud strategy.</a:t>
            </a:r>
          </a:p>
          <a:p>
            <a:r>
              <a:rPr lang="en-US" sz="1200" dirty="0"/>
              <a:t>Emphasized standardization, automation, and staff training.</a:t>
            </a:r>
          </a:p>
          <a:p>
            <a:pPr marL="0" indent="0">
              <a:buNone/>
            </a:pPr>
            <a:r>
              <a:rPr lang="en-US" sz="1200" b="1" dirty="0"/>
              <a:t>Strategic Recommendation </a:t>
            </a:r>
          </a:p>
          <a:p>
            <a:r>
              <a:rPr lang="en-US" sz="1200" dirty="0"/>
              <a:t>Begin with a Hybrid Cloud Strategy that combines on-premises and public cloud.</a:t>
            </a:r>
          </a:p>
          <a:p>
            <a:r>
              <a:rPr lang="en-US" sz="1200" dirty="0"/>
              <a:t>Integrate DevOps automation for faster deployment, continuous improvement, and reduced manual work.</a:t>
            </a:r>
          </a:p>
          <a:p>
            <a:r>
              <a:rPr lang="en-US" sz="1200" dirty="0"/>
              <a:t>Focus equally on technology, people, and process to ensure smooth transformation and long-term success.</a:t>
            </a:r>
          </a:p>
        </p:txBody>
      </p:sp>
    </p:spTree>
    <p:extLst>
      <p:ext uri="{BB962C8B-B14F-4D97-AF65-F5344CB8AC3E}">
        <p14:creationId xmlns:p14="http://schemas.microsoft.com/office/powerpoint/2010/main" val="19691235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555</Words>
  <Application>Microsoft Office PowerPoint</Application>
  <PresentationFormat>Widescreen</PresentationFormat>
  <Paragraphs>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 COM7333-25/26-Enterprise Cloud Computing  </vt:lpstr>
      <vt:lpstr>ATN: Cloud Migration Global telecom equipment supplier</vt:lpstr>
      <vt:lpstr>DTGOV: Cloud Infrastructure &amp; Operations      Government IT provider (Ministry of Social Security)</vt:lpstr>
      <vt:lpstr>DTGOV: Cloud Infrastructure &amp; Operations      Government IT provider (Ministry of Social Security)</vt:lpstr>
      <vt:lpstr>Innovartus – Multi-Cloud and Growth</vt:lpstr>
      <vt:lpstr>Innovartus – Multi-Cloud and Growth</vt:lpstr>
      <vt:lpstr>Task 4: Comparative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Ahsan Iqbal</dc:creator>
  <cp:lastModifiedBy>Ahsan Iqbal</cp:lastModifiedBy>
  <cp:revision>1</cp:revision>
  <dcterms:created xsi:type="dcterms:W3CDTF">2025-10-28T13:00:26Z</dcterms:created>
  <dcterms:modified xsi:type="dcterms:W3CDTF">2025-10-28T14:23:25Z</dcterms:modified>
</cp:coreProperties>
</file>